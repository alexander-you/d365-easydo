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לפתוח עם הבטחה עסקית ברורה ולא עם טכנולוגיה.‏
‏מה להגיד: אנחנו לא מציגים עוד כלי חתימה. אנחנו מציגים דרך לסגור תהליך עסקי מתוך ‎Dynamics 365‎, מהשליחה ועד החזרת המסמך והנתונים.‏
‏הכנה למציג: להחליף את ה-placeholder בצילום מסך איכותי של רשומת Contact או Case עם כפתור Send for Signature ופאנל ‎easydo‎.‏
‏זהירות ‎RTL‎: אם עורכים את הכותרת, להשאיר רווח לפני ואחרי ‎Dynamics 365‎ ו-‎Power Platform‎ ולא למחוק את סימני הכיווניות הבלתי נראים סביב המילים באנגלית.‏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ליצור הזדהות עם הכאב בלי לתקוף את המצב הקיים.‏
‏מה להגיד: ברוב הארגונים ‎Dynamics 365‎ הוא מרכז העבודה, אבל רגע החתימה מוציא את המשתמש החוצה. שם נוצרות טעויות, עיכובים וחוסר שקיפות.‏
‏הכנה למציג: להביא דוגמה אחת מהלקוח, למשל KYC, חוזה שירות או טופס הצטרפות.‏
‏שאלה לקהל: איפה אצלכם היום נשמר המסמך החתום, ואיך המשתמש יודע שהתהליך הושלם?‏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להעביר את השינוי התפיסתי. לא מוכרים חתימה, מוכרים סגירת תהליך.‏
‏מה להגיד: כאשר כל האובייקטים של החתימה קשורים לרשומה, ‎Dynamics 365‎ נשאר מקור האמת. המשתמש רואה את ההקשר, את המסמך ואת הסטטוס במקום אחד.‏
‏הכנה למציג: כדאי להציג כאן רשימה קצרה של תהליכים רלוונטיים ללקוח ולא רשימת פיצ'רים טכנית.‏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לתת משפט זכיר שאפשר לחזור אליו לאורך המצגת.‏
‏מה להגיד: שלושת הפעלים הם כל הסיפור: Send, Sign, Return. כל היתר הוא שכבת יישום שמוודאת שזה עובד בארגון אמיתי.‏
‏הכנה למציג: לעצור כאן לשנייה. אם הקהל מבין את השקף הזה, שאר המצגת תהיה קלה יותר.‏
‏‎RTL‎: שלושת המילים באנגלית מופרדות בכרטיסים כדי למנוע ערבוב כיווניות בתוך משפט עברי ארוך.‏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להראות שהמשתמש העסקי פוגש תהליך קצר ולא ארכיטקטורה.‏
‏מה להגיד: המטרה היא שהנציג או מנהל הלקוח לא יצאו מ-‎Dynamics 365‎. הם בוחרים תבנית, בודקים נתונים, שולחים ורואים סטטוס.‏
‏הכנה למציג: להוסיף צילום מסך של ה-side pane או ה-send wizard. אם אין צילום, להשתמש ב-mockup נקי שמציג את ארבעת השלבים.‏
‏דגש מכירה: פחות הדרכה, פחות טעויות, פחות מעבר בין מערכות.‏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להסביר למה האינטגרציה עמוקה יותר משליחת לינק.‏
‏מה להגיד: לאחר השליחה המערכת ממשיכה לעבוד. היא בודקת סטטוס, מזהה צפייה או חתימה, מורידה את ה-‎PDF‎ החתום ושומרת את ערכי השדות שנאספו.‏
‏הכנה למציג: להראות דוגמה של בקשת חתימה Completed ודוגמה למסמך שהופיע בציר הזמן של הרשומה המקורית.‏
‏שאלה אפשרית: האם חייבים לכתוב את הערכים לשדות המקור? תשובה: אפשר, לפי מדיניות הלקוח. הפתרון מחזיר את הערכים ל-‎Dataverse‎ כדי לאפשר מיפוי מבוקר.‏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להוכיח שהפתרון מחבר את התבנית לנתוני העסק, ולא רק שולח ‎PDF‎.‏
‏מה להגיד: מנהל המערכת מסנכרן תבניות ‎easydo‎, רואה את השדות שלהן וממפה אותם לשדות ‎Dynamics 365‎. אפשר לקבוע כיוון: prefill, read-back או דו-כיווני.‏
‏הכנה למציג: להציג צילום של ‎PCF‎ mapping עם שדות אמיתיים. להדגיש שהמדיניות נשלטת ב-Dynamics ולא על ידי עורך התבנית בלבד.‏
‏‎RTL‎: בשורת הדוגמה יש ביטוי טכני באנגלית. אם עורכים אותו, להשאיר אותו כשורה נפרדת ולא בתוך פסקה עברית צפופה.‏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להראות שהפתרון לא ננעל לערוץ אחד.‏
‏מה להגיד: יש מודל ברור. ערוץ ראשי אחד יכול להישלח Native על ידי ‎easydo‎. אם רוצים ערוצים נוספים או מסרים מותאמים, ‎easydo‎ מחזירה קישור והארגון מפיץ אותו דרך ‎Power Automate‎, ‎Customer Insights‎ או מנגנון אחר.‏
‏הכנה למציג: אם הלקוח מדבר על ‎WhatsApp‎ או ‎SMS‎, להדגיש את הצורך במספר טלפון תקין ובמדיניות הפצה מוגדרת.‏
‏דגש מכירה: זה מאפשר להתחיל פשוט, ואז להרחיב בלי לשנות את מודל הנתונים.‏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לתת תרחיש מרשים ומוחשי שמבדל את האינטגרציה.‏
‏מה להגיד: במקום לשלוח את הלקוח למייל אחרי השיחה, הנציג שולח קישור חתימה בתוך הערוץ שבו הלקוח כבר נמצא. זה מקצר תהליך ומעלה סיכוי להשלמה בזמן אמת.‏
‏הכנה למציג: להציג צילום מסך של Customer Service workspace או ‎Contact Center‎ עם productivity pane.‏
‏דגש עסקי: התרחיש מתאים לשירות לקוחות, אישורים מהירים, תיקוני פרטים, טפסים רגולטוריים ותהליכי הצטרפות.‏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לתת ביטחון ל-IT בלי להיכנס ליותר מדי פרטים.‏
‏מה להגיד: הפתרון נשען על רכיבים מוכרים של ‎Power Platform‎: ‎Dataverse‎ כמודל הנתונים, ‎Power Automate‎ לאורקסטרציה, Custom Connector מול ‎easydo‎, ורכיבי UX בתוך ‎Dynamics 365‎.‏
‏הכנה למציג: אם יש קהל טכני, אפשר להוסיף שקף נספח עם תרשים מפורט יותר. במצגת המכירה לא צריך להתחיל מזה.‏
‏נקודה חשובה: אין צורך ב-Azure Function ב-‎MVP‎, אבל הארכיטקטורה מאפשרת להוסיף שכבה כזו בהמשך אם יש צורך ב-webhooks, עומסים גבוהים או Key Vault.‏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להסיר חששות של אבטחה, Compliance ותפעול.‏
‏מה להגיד: האינטגרציה נבנתה לפי עקרונות ‎Power Platform‎. סודות נמצאים ב-Connection References, התקשורת מוצפנת, והרשאות המסמך נשענות על הרשאות ‎Dynamics 365‎.‏
‏הכנה למציג: אם יש CISO או ארכיטקט בקהל, להדגיש שאין סודות ב-source control ושאפשר להגדיר ‎DLP‎ על הקונקטור.‏
‏שאלה צפויה: האם יש webhooks? תשובה: במודל הראשוני יש polling יוצא בלבד. ניתן להוסיף webhook מאובטח בשלב מתקדם.‏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לתרגם יכולות טכניות לערך עסקי.‏
‏מה להגיד: השינוי הוא לא רק נוחות. הוא מפחית טעויות, מקצר SLA, משפר שקיפות ומאפשר בקרה על תהליכים שחוצים מערכות.‏
‏הכנה למציג: אם יש נתונים פנימיים, אפשר להחליף את הרשימה במדדים כמו זמן טיפול, אחוז השלמה או מספר פעולות ידניות שנחסכות.‏
‏דגש מכירה: להשתמש בשפה של תהליך, לא בשפה של אינטגרציה.‏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לתת לקהל אפשרויות התחלה ולזהות pain point רלוונטי.‏
‏מה להגיד: לא צריך להתחיל מכל הארגון. בוחרים תהליך אחד עם ערך ברור, מוכיחים אותו, ואז מרחיבים לתבניות וטבלאות נוספות.‏
‏הכנה למציג: לבחור מראש 2 תרחישים שמתאימים לקהל הספציפי ולהרחיב עליהם בעל פה.‏
‏טיפ: אם הקהל מגיע משירות לקוחות, להתחיל מ-‎Contact Center‎. אם הוא מגיע ממכירות או תפעול, להתחיל מחוזה לקוח או KYC.‏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לסיים בפעולה ברורה ולא רק בסיכום.‏
‏מה להגיד: הדרך הנכונה היא להתחיל קטן ומדיד. תהליך אחד, תבנית אחת, רשומה אחת, ואז הרחבה. זה מצמצם סיכון ומראה ערך מהר.‏
‏הכנה למציג: להגיע עם הצעה קונקרטית לתהליך הפיילוט לפי הלקוח. למשל KYC על Contact או חתימה במהלך Case.‏
‏CTA: לקבוע סדנת מיפוי קצרה שבה בוחרים תהליך, תבנית, שדות, ערוץ שליחה ומדדי הצלחה.‏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‏מטרת השקף: לשמש checklist פנימי לעריכה עברית ו-‎RTL‎.‏
‏מה להגיד אם מציגים אותו: במצגות עברית עם מילים באנגלית, הבעיה המרכזית היא לא התוכן אלא הכיווניות. לכן יש לבצע בדיקה חזותית אחרי כל שינוי ידני.‏
‏הכנה למציג: אם שולחים ללקוח, אפשר להסתיר או למחוק את השקף הזה. אם עובדים בצוות, להשאיר אותו כנספח פנימי.‏
‏כלל עבודה: לא לערוך מונחי English בתוך משפטים ארוכים אם אין צורך. עדיף להפוך אותם לכותרת משנה, כרטיס או label נפרד.‏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0"/>
            <a:ext cx="34747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43400"/>
            <a:ext cx="9144000" cy="804672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3383280" cy="324612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9224" y="649224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22376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786384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1388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‏מקום לצילום מסך‏</a:t>
            </a:r>
            <a:endParaRPr lang="he-IL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35708"/>
            <a:ext cx="2560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‏רשומת Dynamics עם כפתור Send for Signature‏</a:t>
            </a:r>
            <a:endParaRPr lang="he-IL" sz="820" dirty="0"/>
          </a:p>
        </p:txBody>
      </p:sp>
      <p:sp>
        <p:nvSpPr>
          <p:cNvPr id="10" name="Text 8"/>
          <p:cNvSpPr/>
          <p:nvPr/>
        </p:nvSpPr>
        <p:spPr>
          <a:xfrm>
            <a:off x="4160520" y="914400"/>
            <a:ext cx="43434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easydo for Dynamics 365 &amp; Power Platform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389120" y="1755648"/>
            <a:ext cx="41148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DD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‏חתימה דיגיטלית כחלק טבעי מתהליך העבודה העסקי‏</a:t>
            </a:r>
            <a:endParaRPr lang="he-IL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070" dirty="0">
                <a:solidFill>
                  <a:srgbClr val="B9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‏שליחה מהרשומה, מעקב אוטומטי, החזרת נתונים ומסמך חתום אל ‎Dataverse‎‏</a:t>
            </a:r>
            <a:endParaRPr lang="he-IL" sz="1070" dirty="0"/>
          </a:p>
        </p:txBody>
      </p:sp>
      <p:sp>
        <p:nvSpPr>
          <p:cNvPr id="13" name="Shape 11"/>
          <p:cNvSpPr/>
          <p:nvPr/>
        </p:nvSpPr>
        <p:spPr>
          <a:xfrm>
            <a:off x="6528816" y="3127248"/>
            <a:ext cx="1965960" cy="237744"/>
          </a:xfrm>
          <a:prstGeom prst="roundRect">
            <a:avLst>
              <a:gd name="adj" fmla="val 15385"/>
            </a:avLst>
          </a:prstGeom>
          <a:solidFill>
            <a:srgbClr val="1F8E55"/>
          </a:solidFill>
          <a:ln w="12700">
            <a:solidFill>
              <a:srgbClr val="1F8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318668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‏מצגת מסחרית / שיווקית‏</a:t>
            </a:r>
            <a:endParaRPr lang="he-IL" sz="760" dirty="0"/>
          </a:p>
        </p:txBody>
      </p:sp>
      <p:sp>
        <p:nvSpPr>
          <p:cNvPr id="15" name="Text 13"/>
          <p:cNvSpPr/>
          <p:nvPr/>
        </p:nvSpPr>
        <p:spPr>
          <a:xfrm>
            <a:off x="502920" y="46177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73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‏גרסת טיוטה למציג‏</a:t>
            </a:r>
            <a:endParaRPr lang="he-IL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‏למה זה חשוב‏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‏הבעיה העסקית‏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74920" y="1078992"/>
            <a:ext cx="3474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5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‏תהליכי חתימה עדיין נשברים בין מערכות‏</a:t>
            </a:r>
            <a:endParaRPr lang="he-IL" sz="15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24871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49056" y="160020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64792"/>
            <a:ext cx="21579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‏המשתמש עובד ב-Dynamics‏</a:t>
            </a:r>
            <a:endParaRPr lang="he-IL" sz="1150" dirty="0"/>
          </a:p>
        </p:txBody>
      </p:sp>
      <p:sp>
        <p:nvSpPr>
          <p:cNvPr id="12" name="Text 10"/>
          <p:cNvSpPr/>
          <p:nvPr/>
        </p:nvSpPr>
        <p:spPr>
          <a:xfrm>
            <a:off x="6236208" y="2093976"/>
            <a:ext cx="21031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‏אבל המסמך נשלח ממערכת חיצונית או במייל ידני‏</a:t>
            </a:r>
            <a:endParaRPr lang="he-IL" sz="880" dirty="0"/>
          </a:p>
        </p:txBody>
      </p:sp>
      <p:sp>
        <p:nvSpPr>
          <p:cNvPr id="13" name="Shape 11"/>
          <p:cNvSpPr/>
          <p:nvPr/>
        </p:nvSpPr>
        <p:spPr>
          <a:xfrm>
            <a:off x="6035040" y="2514600"/>
            <a:ext cx="24871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2514600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679192"/>
            <a:ext cx="21579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‏הסטטוס נבדק ידנית‏</a:t>
            </a:r>
            <a:endParaRPr lang="he-IL" sz="1150" dirty="0"/>
          </a:p>
        </p:txBody>
      </p:sp>
      <p:sp>
        <p:nvSpPr>
          <p:cNvPr id="16" name="Text 14"/>
          <p:cNvSpPr/>
          <p:nvPr/>
        </p:nvSpPr>
        <p:spPr>
          <a:xfrm>
            <a:off x="6236208" y="3008376"/>
            <a:ext cx="21031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‏אין מקור אמת אחד למי פתח, מי חתם ומה עדיין תקוע‏</a:t>
            </a:r>
            <a:endParaRPr lang="he-IL" sz="880" dirty="0"/>
          </a:p>
        </p:txBody>
      </p:sp>
      <p:sp>
        <p:nvSpPr>
          <p:cNvPr id="17" name="Shape 15"/>
          <p:cNvSpPr/>
          <p:nvPr/>
        </p:nvSpPr>
        <p:spPr>
          <a:xfrm>
            <a:off x="6035040" y="3429000"/>
            <a:ext cx="24871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9056" y="3429000"/>
            <a:ext cx="73152" cy="749808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593592"/>
            <a:ext cx="21579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‏המסמך והנתונים חוזרים מפוזרים‏</a:t>
            </a:r>
            <a:endParaRPr lang="he-IL" sz="1150" dirty="0"/>
          </a:p>
        </p:txBody>
      </p:sp>
      <p:sp>
        <p:nvSpPr>
          <p:cNvPr id="20" name="Text 18"/>
          <p:cNvSpPr/>
          <p:nvPr/>
        </p:nvSpPr>
        <p:spPr>
          <a:xfrm>
            <a:off x="6236208" y="3922776"/>
            <a:ext cx="21031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‏‎PDF‎ בתיקייה, ערכים בהקלדה חוזרת, מעט Audit‏</a:t>
            </a:r>
            <a:endParaRPr lang="he-IL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1143000"/>
            <a:ext cx="4846320" cy="338328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9224" y="1289304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1362456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1426464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670048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‏מקום לאיור Before‏</a:t>
            </a:r>
            <a:endParaRPr lang="he-IL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944368"/>
            <a:ext cx="4023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‏Dynamics → מייל → חתימה → ‎PDF‎ → עדכון ידני‏</a:t>
            </a:r>
            <a:endParaRPr lang="he-IL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‏המסר המרכזי‏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‏ההזדמנות‏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0" y="914400"/>
            <a:ext cx="4663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‏החתימה צריכה להיות חלק מהרשומה העסקית‏</a:t>
            </a:r>
            <a:endParaRPr lang="he-IL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1353312"/>
            <a:ext cx="45720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0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‏לא פעולה חיצונית, לא קובץ שנשלח ידנית, ולא תהליך שהמשתמש צריך לרדוף אחריו.‏</a:t>
            </a:r>
            <a:endParaRPr lang="he-IL" sz="1020" dirty="0"/>
          </a:p>
        </p:txBody>
      </p:sp>
      <p:sp>
        <p:nvSpPr>
          <p:cNvPr id="10" name="Shape 8"/>
          <p:cNvSpPr/>
          <p:nvPr/>
        </p:nvSpPr>
        <p:spPr>
          <a:xfrm>
            <a:off x="1737360" y="1783080"/>
            <a:ext cx="1371600" cy="1371600"/>
          </a:xfrm>
          <a:prstGeom prst="ellipse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11096" y="2377440"/>
            <a:ext cx="10241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‏רשומה עסקית‏</a:t>
            </a:r>
            <a:endParaRPr lang="he-IL" sz="920" dirty="0"/>
          </a:p>
        </p:txBody>
      </p:sp>
      <p:sp>
        <p:nvSpPr>
          <p:cNvPr id="12" name="Shape 10"/>
          <p:cNvSpPr/>
          <p:nvPr/>
        </p:nvSpPr>
        <p:spPr>
          <a:xfrm>
            <a:off x="1097280" y="109728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1978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6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‏תבנית‏</a:t>
            </a:r>
            <a:endParaRPr lang="he-IL" sz="760" dirty="0"/>
          </a:p>
        </p:txBody>
      </p:sp>
      <p:sp>
        <p:nvSpPr>
          <p:cNvPr id="14" name="Shape 12"/>
          <p:cNvSpPr/>
          <p:nvPr/>
        </p:nvSpPr>
        <p:spPr>
          <a:xfrm>
            <a:off x="3657600" y="1024128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1247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6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‏נמען‏</a:t>
            </a:r>
            <a:endParaRPr lang="he-IL" sz="760" dirty="0"/>
          </a:p>
        </p:txBody>
      </p:sp>
      <p:sp>
        <p:nvSpPr>
          <p:cNvPr id="16" name="Shape 14"/>
          <p:cNvSpPr/>
          <p:nvPr/>
        </p:nvSpPr>
        <p:spPr>
          <a:xfrm>
            <a:off x="4572000" y="251460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61518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6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‏סטטוס‏</a:t>
            </a:r>
            <a:endParaRPr lang="he-IL" sz="760" dirty="0"/>
          </a:p>
        </p:txBody>
      </p:sp>
      <p:sp>
        <p:nvSpPr>
          <p:cNvPr id="18" name="Shape 16"/>
          <p:cNvSpPr/>
          <p:nvPr/>
        </p:nvSpPr>
        <p:spPr>
          <a:xfrm>
            <a:off x="3566160" y="3858768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95935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6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‏‎PDF‎ חתום‏</a:t>
            </a:r>
            <a:endParaRPr lang="he-IL" sz="760" dirty="0"/>
          </a:p>
        </p:txBody>
      </p:sp>
      <p:sp>
        <p:nvSpPr>
          <p:cNvPr id="20" name="Shape 18"/>
          <p:cNvSpPr/>
          <p:nvPr/>
        </p:nvSpPr>
        <p:spPr>
          <a:xfrm>
            <a:off x="914400" y="3767328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8679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6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‏נתונים שחזרו‏</a:t>
            </a:r>
            <a:endParaRPr lang="he-IL" sz="760" dirty="0"/>
          </a:p>
        </p:txBody>
      </p:sp>
      <p:sp>
        <p:nvSpPr>
          <p:cNvPr id="22" name="Shape 20"/>
          <p:cNvSpPr/>
          <p:nvPr/>
        </p:nvSpPr>
        <p:spPr>
          <a:xfrm>
            <a:off x="228600" y="242316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6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‏Audit‏</a:t>
            </a:r>
            <a:endParaRPr lang="he-IL" sz="760" dirty="0"/>
          </a:p>
        </p:txBody>
      </p:sp>
      <p:sp>
        <p:nvSpPr>
          <p:cNvPr id="24" name="Shape 22"/>
          <p:cNvSpPr/>
          <p:nvPr/>
        </p:nvSpPr>
        <p:spPr>
          <a:xfrm>
            <a:off x="5715000" y="2011680"/>
            <a:ext cx="2761488" cy="214884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861304" y="2157984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25312" y="2231136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5896" y="2295144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2921508"/>
            <a:ext cx="221284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‏מקום לצילום מסך‏</a:t>
            </a:r>
            <a:endParaRPr lang="he-IL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3195828"/>
            <a:ext cx="19385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‏רשומה עם Timeline וסטטוס חתימה‏</a:t>
            </a:r>
            <a:endParaRPr lang="he-IL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בתוך Dynamics‏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‏הפתרון במשפט אחד‏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87552" y="987552"/>
            <a:ext cx="75438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‏המשתמש שולח מסמך לחתימה מתוך ‎Dynamics 365‎, ‎easydo‎ מנהלת את החתימה, והנתונים חוזרים אל ‎Dataverse‎.‏</a:t>
            </a:r>
            <a:endParaRPr lang="he-IL" sz="1800" dirty="0"/>
          </a:p>
        </p:txBody>
      </p:sp>
      <p:sp>
        <p:nvSpPr>
          <p:cNvPr id="9" name="Shape 7"/>
          <p:cNvSpPr/>
          <p:nvPr/>
        </p:nvSpPr>
        <p:spPr>
          <a:xfrm>
            <a:off x="6080760" y="2212848"/>
            <a:ext cx="201168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82712" y="2212848"/>
            <a:ext cx="10972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2340864"/>
            <a:ext cx="1700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‏Send‏</a:t>
            </a:r>
            <a:endParaRPr lang="he-IL" sz="1020" dirty="0"/>
          </a:p>
        </p:txBody>
      </p:sp>
      <p:sp>
        <p:nvSpPr>
          <p:cNvPr id="12" name="Text 10"/>
          <p:cNvSpPr/>
          <p:nvPr/>
        </p:nvSpPr>
        <p:spPr>
          <a:xfrm>
            <a:off x="6227064" y="2606040"/>
            <a:ext cx="1700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‏שליחה מתוך הרשומה‏</a:t>
            </a:r>
            <a:endParaRPr lang="he-IL" sz="720" dirty="0"/>
          </a:p>
        </p:txBody>
      </p:sp>
      <p:sp>
        <p:nvSpPr>
          <p:cNvPr id="13" name="Shape 11"/>
          <p:cNvSpPr/>
          <p:nvPr/>
        </p:nvSpPr>
        <p:spPr>
          <a:xfrm>
            <a:off x="5111496" y="2560320"/>
            <a:ext cx="594360" cy="0"/>
          </a:xfrm>
          <a:prstGeom prst="line">
            <a:avLst/>
          </a:prstGeom>
          <a:noFill/>
          <a:ln w="17780">
            <a:solidFill>
              <a:srgbClr val="96A4B8"/>
            </a:solidFill>
            <a:prstDash val="solid"/>
            <a:headEnd type="triangl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47872" y="2212848"/>
            <a:ext cx="201168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8A8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9824" y="2212848"/>
            <a:ext cx="109728" cy="713232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2340864"/>
            <a:ext cx="1700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‏Sign‏</a:t>
            </a:r>
            <a:endParaRPr lang="he-IL" sz="1020" dirty="0"/>
          </a:p>
        </p:txBody>
      </p:sp>
      <p:sp>
        <p:nvSpPr>
          <p:cNvPr id="17" name="Text 15"/>
          <p:cNvSpPr/>
          <p:nvPr/>
        </p:nvSpPr>
        <p:spPr>
          <a:xfrm>
            <a:off x="3694176" y="2606040"/>
            <a:ext cx="1700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‏חתימה בערוץ הנבחר‏</a:t>
            </a:r>
            <a:endParaRPr lang="he-IL" sz="720" dirty="0"/>
          </a:p>
        </p:txBody>
      </p:sp>
      <p:sp>
        <p:nvSpPr>
          <p:cNvPr id="18" name="Shape 16"/>
          <p:cNvSpPr/>
          <p:nvPr/>
        </p:nvSpPr>
        <p:spPr>
          <a:xfrm>
            <a:off x="2560320" y="2560320"/>
            <a:ext cx="594360" cy="0"/>
          </a:xfrm>
          <a:prstGeom prst="line">
            <a:avLst/>
          </a:prstGeom>
          <a:noFill/>
          <a:ln w="17780">
            <a:solidFill>
              <a:srgbClr val="96A4B8"/>
            </a:solidFill>
            <a:prstDash val="solid"/>
            <a:headEnd type="triangl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05840" y="2212848"/>
            <a:ext cx="201168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7792" y="2212848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2340864"/>
            <a:ext cx="1700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‏Return‏</a:t>
            </a:r>
            <a:endParaRPr lang="he-IL" sz="1020" dirty="0"/>
          </a:p>
        </p:txBody>
      </p:sp>
      <p:sp>
        <p:nvSpPr>
          <p:cNvPr id="22" name="Text 20"/>
          <p:cNvSpPr/>
          <p:nvPr/>
        </p:nvSpPr>
        <p:spPr>
          <a:xfrm>
            <a:off x="1152144" y="2606040"/>
            <a:ext cx="1700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‏סטטוס, ‎PDF‎ ונתונים‏</a:t>
            </a:r>
            <a:endParaRPr lang="he-IL" sz="720" dirty="0"/>
          </a:p>
        </p:txBody>
      </p:sp>
      <p:sp>
        <p:nvSpPr>
          <p:cNvPr id="23" name="Shape 21"/>
          <p:cNvSpPr/>
          <p:nvPr/>
        </p:nvSpPr>
        <p:spPr>
          <a:xfrm>
            <a:off x="6080760" y="3364992"/>
            <a:ext cx="2011680" cy="640080"/>
          </a:xfrm>
          <a:prstGeom prst="rect">
            <a:avLst/>
          </a:prstGeom>
          <a:solidFill>
            <a:srgbClr val="EAF0FF"/>
          </a:solidFill>
          <a:ln w="10160">
            <a:solidFill>
              <a:srgbClr val="CA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529584"/>
            <a:ext cx="16824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‏מה רואים המשתמשים‏</a:t>
            </a:r>
            <a:endParaRPr lang="he-IL" sz="1150" dirty="0"/>
          </a:p>
        </p:txBody>
      </p:sp>
      <p:sp>
        <p:nvSpPr>
          <p:cNvPr id="25" name="Text 23"/>
          <p:cNvSpPr/>
          <p:nvPr/>
        </p:nvSpPr>
        <p:spPr>
          <a:xfrm>
            <a:off x="6281928" y="3858768"/>
            <a:ext cx="1627632" cy="36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‏כפתור, אשף קצר, סטטוס ברור‏</a:t>
            </a:r>
            <a:endParaRPr lang="he-IL" sz="880" dirty="0"/>
          </a:p>
        </p:txBody>
      </p:sp>
      <p:sp>
        <p:nvSpPr>
          <p:cNvPr id="26" name="Shape 24"/>
          <p:cNvSpPr/>
          <p:nvPr/>
        </p:nvSpPr>
        <p:spPr>
          <a:xfrm>
            <a:off x="3547872" y="3364992"/>
            <a:ext cx="2011680" cy="640080"/>
          </a:xfrm>
          <a:prstGeom prst="rect">
            <a:avLst/>
          </a:prstGeom>
          <a:solidFill>
            <a:srgbClr val="E9F7EF"/>
          </a:solidFill>
          <a:ln w="10160">
            <a:solidFill>
              <a:srgbClr val="BCE8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3529584"/>
            <a:ext cx="16824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‏מה ‎easydo‎ עושה‏</a:t>
            </a:r>
            <a:endParaRPr lang="he-IL" sz="1150" dirty="0"/>
          </a:p>
        </p:txBody>
      </p:sp>
      <p:sp>
        <p:nvSpPr>
          <p:cNvPr id="28" name="Text 26"/>
          <p:cNvSpPr/>
          <p:nvPr/>
        </p:nvSpPr>
        <p:spPr>
          <a:xfrm>
            <a:off x="3749040" y="3858768"/>
            <a:ext cx="1627632" cy="36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‏חתימה, קישור, מסמך סופי‏</a:t>
            </a:r>
            <a:endParaRPr lang="he-IL" sz="880" dirty="0"/>
          </a:p>
        </p:txBody>
      </p:sp>
      <p:sp>
        <p:nvSpPr>
          <p:cNvPr id="29" name="Shape 27"/>
          <p:cNvSpPr/>
          <p:nvPr/>
        </p:nvSpPr>
        <p:spPr>
          <a:xfrm>
            <a:off x="1005840" y="3364992"/>
            <a:ext cx="2011680" cy="640080"/>
          </a:xfrm>
          <a:prstGeom prst="rect">
            <a:avLst/>
          </a:prstGeom>
          <a:solidFill>
            <a:srgbClr val="FFF6E3"/>
          </a:solidFill>
          <a:ln w="10160">
            <a:solidFill>
              <a:srgbClr val="FAD5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3529584"/>
            <a:ext cx="16824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‏מה Dynamics מקבל‏</a:t>
            </a:r>
            <a:endParaRPr lang="he-IL" sz="1150" dirty="0"/>
          </a:p>
        </p:txBody>
      </p:sp>
      <p:sp>
        <p:nvSpPr>
          <p:cNvPr id="31" name="Text 29"/>
          <p:cNvSpPr/>
          <p:nvPr/>
        </p:nvSpPr>
        <p:spPr>
          <a:xfrm>
            <a:off x="1207008" y="3858768"/>
            <a:ext cx="1627632" cy="36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‏מעקב, Audit, מסמך וערכים‏</a:t>
            </a:r>
            <a:endParaRPr lang="he-IL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‏מה קורה בפועל‏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‏חוויית המשתמש‏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969264"/>
            <a:ext cx="3794760" cy="361188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9224" y="1115568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188720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" y="1252728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10612"/>
            <a:ext cx="3246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‏מקום לרצף מסכים‏</a:t>
            </a:r>
            <a:endParaRPr lang="he-IL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884932"/>
            <a:ext cx="2971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‏כפתור → Wizard → Review → Send‏</a:t>
            </a:r>
            <a:endParaRPr lang="he-IL" sz="820" dirty="0"/>
          </a:p>
        </p:txBody>
      </p:sp>
      <p:sp>
        <p:nvSpPr>
          <p:cNvPr id="14" name="Shape 12"/>
          <p:cNvSpPr/>
          <p:nvPr/>
        </p:nvSpPr>
        <p:spPr>
          <a:xfrm>
            <a:off x="7973568" y="100584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3296" y="111556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‏1‏</a:t>
            </a:r>
            <a:endParaRPr lang="he-IL" sz="750" dirty="0"/>
          </a:p>
        </p:txBody>
      </p:sp>
      <p:sp>
        <p:nvSpPr>
          <p:cNvPr id="16" name="Text 14"/>
          <p:cNvSpPr/>
          <p:nvPr/>
        </p:nvSpPr>
        <p:spPr>
          <a:xfrm>
            <a:off x="4846320" y="1024128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3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‏פתיחת רשומה‏</a:t>
            </a:r>
            <a:endParaRPr lang="he-IL" sz="1130" dirty="0"/>
          </a:p>
        </p:txBody>
      </p:sp>
      <p:sp>
        <p:nvSpPr>
          <p:cNvPr id="17" name="Text 15"/>
          <p:cNvSpPr/>
          <p:nvPr/>
        </p:nvSpPr>
        <p:spPr>
          <a:xfrm>
            <a:off x="4846320" y="1289304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4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‏Contact, Case או רשומה עסקית אחרת‏</a:t>
            </a:r>
            <a:endParaRPr lang="he-IL" sz="840" dirty="0"/>
          </a:p>
        </p:txBody>
      </p:sp>
      <p:sp>
        <p:nvSpPr>
          <p:cNvPr id="18" name="Shape 16"/>
          <p:cNvSpPr/>
          <p:nvPr/>
        </p:nvSpPr>
        <p:spPr>
          <a:xfrm>
            <a:off x="7973568" y="184708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296" y="195681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‏2‏</a:t>
            </a:r>
            <a:endParaRPr lang="he-IL" sz="750" dirty="0"/>
          </a:p>
        </p:txBody>
      </p:sp>
      <p:sp>
        <p:nvSpPr>
          <p:cNvPr id="20" name="Text 18"/>
          <p:cNvSpPr/>
          <p:nvPr/>
        </p:nvSpPr>
        <p:spPr>
          <a:xfrm>
            <a:off x="4846320" y="1865376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3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‏בחירת תבנית‏</a:t>
            </a:r>
            <a:endParaRPr lang="he-IL" sz="1130" dirty="0"/>
          </a:p>
        </p:txBody>
      </p:sp>
      <p:sp>
        <p:nvSpPr>
          <p:cNvPr id="21" name="Text 19"/>
          <p:cNvSpPr/>
          <p:nvPr/>
        </p:nvSpPr>
        <p:spPr>
          <a:xfrm>
            <a:off x="4846320" y="2130552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4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‏תבניות ‎easydo‎ מסונכרנות ל-‎Dataverse‎‏</a:t>
            </a:r>
            <a:endParaRPr lang="he-IL" sz="840" dirty="0"/>
          </a:p>
        </p:txBody>
      </p:sp>
      <p:sp>
        <p:nvSpPr>
          <p:cNvPr id="22" name="Shape 20"/>
          <p:cNvSpPr/>
          <p:nvPr/>
        </p:nvSpPr>
        <p:spPr>
          <a:xfrm>
            <a:off x="7973568" y="26883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83296" y="279806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‏3‏</a:t>
            </a:r>
            <a:endParaRPr lang="he-IL" sz="750" dirty="0"/>
          </a:p>
        </p:txBody>
      </p:sp>
      <p:sp>
        <p:nvSpPr>
          <p:cNvPr id="24" name="Text 22"/>
          <p:cNvSpPr/>
          <p:nvPr/>
        </p:nvSpPr>
        <p:spPr>
          <a:xfrm>
            <a:off x="4846320" y="2706624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3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‏אימות נתונים‏</a:t>
            </a:r>
            <a:endParaRPr lang="he-IL" sz="1130" dirty="0"/>
          </a:p>
        </p:txBody>
      </p:sp>
      <p:sp>
        <p:nvSpPr>
          <p:cNvPr id="25" name="Text 23"/>
          <p:cNvSpPr/>
          <p:nvPr/>
        </p:nvSpPr>
        <p:spPr>
          <a:xfrm>
            <a:off x="4846320" y="2971800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4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‏שדות מתמלאים מראש וניתנים לנעילה‏</a:t>
            </a:r>
            <a:endParaRPr lang="he-IL" sz="840" dirty="0"/>
          </a:p>
        </p:txBody>
      </p:sp>
      <p:sp>
        <p:nvSpPr>
          <p:cNvPr id="26" name="Shape 24"/>
          <p:cNvSpPr/>
          <p:nvPr/>
        </p:nvSpPr>
        <p:spPr>
          <a:xfrm>
            <a:off x="7973568" y="3529584"/>
            <a:ext cx="384048" cy="384048"/>
          </a:xfrm>
          <a:prstGeom prst="ellipse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3296" y="363931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‏4‏</a:t>
            </a:r>
            <a:endParaRPr lang="he-IL" sz="750" dirty="0"/>
          </a:p>
        </p:txBody>
      </p:sp>
      <p:sp>
        <p:nvSpPr>
          <p:cNvPr id="28" name="Text 26"/>
          <p:cNvSpPr/>
          <p:nvPr/>
        </p:nvSpPr>
        <p:spPr>
          <a:xfrm>
            <a:off x="4846320" y="3547872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3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‏שליחה ומעקב‏</a:t>
            </a:r>
            <a:endParaRPr lang="he-IL" sz="1130" dirty="0"/>
          </a:p>
        </p:txBody>
      </p:sp>
      <p:sp>
        <p:nvSpPr>
          <p:cNvPr id="29" name="Text 27"/>
          <p:cNvSpPr/>
          <p:nvPr/>
        </p:nvSpPr>
        <p:spPr>
          <a:xfrm>
            <a:off x="4846320" y="3813048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4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‏סטטוס וקישור נשמרים על הבקשה‏</a:t>
            </a:r>
            <a:endParaRPr lang="he-IL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‏Closing the loop‏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‏מה חוזר ל-Dynamics‏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926080" y="950976"/>
            <a:ext cx="55595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‏הערך האמיתי הוא לא רק קובץ חתום, אלא סגירת הלולאה העסקית‏</a:t>
            </a:r>
            <a:endParaRPr lang="he-IL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645920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6328" y="173736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28A8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‏1‏</a:t>
            </a:r>
            <a:endParaRPr lang="he-IL" sz="2000" dirty="0"/>
          </a:p>
        </p:txBody>
      </p:sp>
      <p:sp>
        <p:nvSpPr>
          <p:cNvPr id="11" name="Text 9"/>
          <p:cNvSpPr/>
          <p:nvPr/>
        </p:nvSpPr>
        <p:spPr>
          <a:xfrm>
            <a:off x="7178040" y="20391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6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‏סטטוס חתימה‏</a:t>
            </a:r>
            <a:endParaRPr lang="he-IL" sz="680" dirty="0"/>
          </a:p>
        </p:txBody>
      </p:sp>
      <p:sp>
        <p:nvSpPr>
          <p:cNvPr id="12" name="Shape 10"/>
          <p:cNvSpPr/>
          <p:nvPr/>
        </p:nvSpPr>
        <p:spPr>
          <a:xfrm>
            <a:off x="5440680" y="1645920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0408" y="173736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28A8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‏2‏</a:t>
            </a:r>
            <a:endParaRPr lang="he-IL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20391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6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‏מסמך ‎PDF‎‏</a:t>
            </a:r>
            <a:endParaRPr lang="he-IL" sz="680" dirty="0"/>
          </a:p>
        </p:txBody>
      </p:sp>
      <p:sp>
        <p:nvSpPr>
          <p:cNvPr id="15" name="Shape 13"/>
          <p:cNvSpPr/>
          <p:nvPr/>
        </p:nvSpPr>
        <p:spPr>
          <a:xfrm>
            <a:off x="3794760" y="1645920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173736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28A8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‏3‏</a:t>
            </a:r>
            <a:endParaRPr lang="he-IL" sz="2000" dirty="0"/>
          </a:p>
        </p:txBody>
      </p:sp>
      <p:sp>
        <p:nvSpPr>
          <p:cNvPr id="17" name="Text 15"/>
          <p:cNvSpPr/>
          <p:nvPr/>
        </p:nvSpPr>
        <p:spPr>
          <a:xfrm>
            <a:off x="3886200" y="20391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6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‏ערכי שדות‏</a:t>
            </a:r>
            <a:endParaRPr lang="he-IL" sz="680" dirty="0"/>
          </a:p>
        </p:txBody>
      </p:sp>
      <p:sp>
        <p:nvSpPr>
          <p:cNvPr id="18" name="Shape 16"/>
          <p:cNvSpPr/>
          <p:nvPr/>
        </p:nvSpPr>
        <p:spPr>
          <a:xfrm>
            <a:off x="2148840" y="1645920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58568" y="173736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rgbClr val="28A8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‏4‏</a:t>
            </a:r>
            <a:endParaRPr lang="he-IL" sz="2000" dirty="0"/>
          </a:p>
        </p:txBody>
      </p:sp>
      <p:sp>
        <p:nvSpPr>
          <p:cNvPr id="20" name="Text 18"/>
          <p:cNvSpPr/>
          <p:nvPr/>
        </p:nvSpPr>
        <p:spPr>
          <a:xfrm>
            <a:off x="2240280" y="20391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6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‏Audit ותמיכה‏</a:t>
            </a:r>
            <a:endParaRPr lang="he-IL" sz="680" dirty="0"/>
          </a:p>
        </p:txBody>
      </p:sp>
      <p:sp>
        <p:nvSpPr>
          <p:cNvPr id="21" name="Shape 19"/>
          <p:cNvSpPr/>
          <p:nvPr/>
        </p:nvSpPr>
        <p:spPr>
          <a:xfrm>
            <a:off x="594360" y="2743200"/>
            <a:ext cx="7909560" cy="146304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40664" y="2889504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2962656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" y="3026664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310128"/>
            <a:ext cx="7360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‏מקום לצילום Timeline‏</a:t>
            </a:r>
            <a:endParaRPr lang="he-IL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584448"/>
            <a:ext cx="7086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‏בקשת חתימה שהושלמה + ‎PDF‎ חתום + ערכים שחזרו‏</a:t>
            </a:r>
            <a:endParaRPr lang="he-IL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‏נתונים לפני ואחרי חתימה‏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‏מיפוי שדות חכם‏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3886200" cy="361188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9224" y="1060704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133856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" y="1197864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55748"/>
            <a:ext cx="3337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‏מקום לצילום ‎PCF‎‏</a:t>
            </a:r>
            <a:endParaRPr lang="he-IL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830068"/>
            <a:ext cx="3063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‏מסך Template Field Mapping‏</a:t>
            </a:r>
            <a:endParaRPr lang="he-IL" sz="820" dirty="0"/>
          </a:p>
        </p:txBody>
      </p:sp>
      <p:sp>
        <p:nvSpPr>
          <p:cNvPr id="14" name="Shape 12"/>
          <p:cNvSpPr/>
          <p:nvPr/>
        </p:nvSpPr>
        <p:spPr>
          <a:xfrm>
            <a:off x="5532120" y="960120"/>
            <a:ext cx="29443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96012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124712"/>
            <a:ext cx="2615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‏מילוי מקדים‏</a:t>
            </a:r>
            <a:endParaRPr lang="he-IL" sz="1150" dirty="0"/>
          </a:p>
        </p:txBody>
      </p:sp>
      <p:sp>
        <p:nvSpPr>
          <p:cNvPr id="17" name="Text 15"/>
          <p:cNvSpPr/>
          <p:nvPr/>
        </p:nvSpPr>
        <p:spPr>
          <a:xfrm>
            <a:off x="5733288" y="1453896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‏נתונים מהרשומה מוזרמים אל שדות ‎easydo‎ לפני שהלקוח פותח את הטופס‏</a:t>
            </a:r>
            <a:endParaRPr lang="he-IL" sz="880" dirty="0"/>
          </a:p>
        </p:txBody>
      </p:sp>
      <p:sp>
        <p:nvSpPr>
          <p:cNvPr id="18" name="Shape 16"/>
          <p:cNvSpPr/>
          <p:nvPr/>
        </p:nvSpPr>
        <p:spPr>
          <a:xfrm>
            <a:off x="5532120" y="1874520"/>
            <a:ext cx="29443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3336" y="1874520"/>
            <a:ext cx="73152" cy="749808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039112"/>
            <a:ext cx="2615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‏נעילת ערכים‏</a:t>
            </a:r>
            <a:endParaRPr lang="he-IL" sz="1150" dirty="0"/>
          </a:p>
        </p:txBody>
      </p:sp>
      <p:sp>
        <p:nvSpPr>
          <p:cNvPr id="21" name="Text 19"/>
          <p:cNvSpPr/>
          <p:nvPr/>
        </p:nvSpPr>
        <p:spPr>
          <a:xfrm>
            <a:off x="5733288" y="2368296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‏שדות כמו שם, מספר לקוח או תעודת זהות יכולים להישאר לקריאה בלבד‏</a:t>
            </a:r>
            <a:endParaRPr lang="he-IL" sz="880" dirty="0"/>
          </a:p>
        </p:txBody>
      </p:sp>
      <p:sp>
        <p:nvSpPr>
          <p:cNvPr id="22" name="Shape 20"/>
          <p:cNvSpPr/>
          <p:nvPr/>
        </p:nvSpPr>
        <p:spPr>
          <a:xfrm>
            <a:off x="5532120" y="2788920"/>
            <a:ext cx="29443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03336" y="2788920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953512"/>
            <a:ext cx="2615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‏קריאה חזרה‏</a:t>
            </a:r>
            <a:endParaRPr lang="he-IL" sz="1150" dirty="0"/>
          </a:p>
        </p:txBody>
      </p:sp>
      <p:sp>
        <p:nvSpPr>
          <p:cNvPr id="25" name="Text 23"/>
          <p:cNvSpPr/>
          <p:nvPr/>
        </p:nvSpPr>
        <p:spPr>
          <a:xfrm>
            <a:off x="5733288" y="3282696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‏ערכים שהלקוח מילא נשמרים כנתוני חתימה ב-‎Dataverse‎‏</a:t>
            </a:r>
            <a:endParaRPr lang="he-IL" sz="880" dirty="0"/>
          </a:p>
        </p:txBody>
      </p:sp>
      <p:sp>
        <p:nvSpPr>
          <p:cNvPr id="26" name="Text 24"/>
          <p:cNvSpPr/>
          <p:nvPr/>
        </p:nvSpPr>
        <p:spPr>
          <a:xfrm>
            <a:off x="5349240" y="3977640"/>
            <a:ext cx="31272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‏דוגמה: contact.emailaddress1 → שדה דואר אלקטרוני בתבנית‏</a:t>
            </a:r>
            <a:endParaRPr lang="he-IL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‏גמישות מסחרית‏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‏ערוצי שליחה והפצה‏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749040" y="960120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‏הארגון בוחר מי שולח את הקישור ובאיזה ערוץ‏</a:t>
            </a:r>
            <a:endParaRPr lang="he-IL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19202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8A8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5592" y="1828800"/>
            <a:ext cx="109728" cy="713232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956816"/>
            <a:ext cx="1609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‏ערוץ ראשי‏</a:t>
            </a:r>
            <a:endParaRPr lang="he-IL" sz="1020" dirty="0"/>
          </a:p>
        </p:txBody>
      </p:sp>
      <p:sp>
        <p:nvSpPr>
          <p:cNvPr id="12" name="Text 10"/>
          <p:cNvSpPr/>
          <p:nvPr/>
        </p:nvSpPr>
        <p:spPr>
          <a:xfrm>
            <a:off x="6501384" y="2221992"/>
            <a:ext cx="1609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שולחת Native‏</a:t>
            </a:r>
            <a:endParaRPr lang="he-IL" sz="720" dirty="0"/>
          </a:p>
        </p:txBody>
      </p:sp>
      <p:sp>
        <p:nvSpPr>
          <p:cNvPr id="13" name="Shape 11"/>
          <p:cNvSpPr/>
          <p:nvPr/>
        </p:nvSpPr>
        <p:spPr>
          <a:xfrm>
            <a:off x="3611880" y="1828800"/>
            <a:ext cx="19202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22392" y="1828800"/>
            <a:ext cx="10972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1956816"/>
            <a:ext cx="1609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‏ערוצים נוספים‏</a:t>
            </a:r>
            <a:endParaRPr lang="he-IL" sz="1020" dirty="0"/>
          </a:p>
        </p:txBody>
      </p:sp>
      <p:sp>
        <p:nvSpPr>
          <p:cNvPr id="16" name="Text 14"/>
          <p:cNvSpPr/>
          <p:nvPr/>
        </p:nvSpPr>
        <p:spPr>
          <a:xfrm>
            <a:off x="3758184" y="2221992"/>
            <a:ext cx="1609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‏‎Power Automate‎ או CIJ‏</a:t>
            </a:r>
            <a:endParaRPr lang="he-IL" sz="720" dirty="0"/>
          </a:p>
        </p:txBody>
      </p:sp>
      <p:sp>
        <p:nvSpPr>
          <p:cNvPr id="17" name="Shape 15"/>
          <p:cNvSpPr/>
          <p:nvPr/>
        </p:nvSpPr>
        <p:spPr>
          <a:xfrm>
            <a:off x="868680" y="1828800"/>
            <a:ext cx="19202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79192" y="182880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1956816"/>
            <a:ext cx="1609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‏הפצה עצמית‏</a:t>
            </a:r>
            <a:endParaRPr lang="he-IL" sz="1020" dirty="0"/>
          </a:p>
        </p:txBody>
      </p:sp>
      <p:sp>
        <p:nvSpPr>
          <p:cNvPr id="20" name="Text 18"/>
          <p:cNvSpPr/>
          <p:nvPr/>
        </p:nvSpPr>
        <p:spPr>
          <a:xfrm>
            <a:off x="1014984" y="2221992"/>
            <a:ext cx="1609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‏הארגון מפיץ קישור‏</a:t>
            </a:r>
            <a:endParaRPr lang="he-IL" sz="720" dirty="0"/>
          </a:p>
        </p:txBody>
      </p:sp>
      <p:sp>
        <p:nvSpPr>
          <p:cNvPr id="21" name="Shape 19"/>
          <p:cNvSpPr/>
          <p:nvPr/>
        </p:nvSpPr>
        <p:spPr>
          <a:xfrm>
            <a:off x="5458968" y="2176272"/>
            <a:ext cx="530352" cy="0"/>
          </a:xfrm>
          <a:prstGeom prst="line">
            <a:avLst/>
          </a:prstGeom>
          <a:noFill/>
          <a:ln w="17780">
            <a:solidFill>
              <a:srgbClr val="96A4B8"/>
            </a:solidFill>
            <a:prstDash val="solid"/>
            <a:headEnd type="triangl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715768" y="2176272"/>
            <a:ext cx="530352" cy="0"/>
          </a:xfrm>
          <a:prstGeom prst="line">
            <a:avLst/>
          </a:prstGeom>
          <a:noFill/>
          <a:ln w="17780">
            <a:solidFill>
              <a:srgbClr val="96A4B8"/>
            </a:solidFill>
            <a:prstDash val="solid"/>
            <a:headEnd type="triangl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309360" y="2971800"/>
            <a:ext cx="1965960" cy="768096"/>
          </a:xfrm>
          <a:prstGeom prst="rect">
            <a:avLst/>
          </a:prstGeom>
          <a:solidFill>
            <a:srgbClr val="E9F7EF"/>
          </a:solidFill>
          <a:ln w="10160">
            <a:solidFill>
              <a:srgbClr val="BDE8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136392"/>
            <a:ext cx="16367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‏‎Email‎ / ‎SMS‎ / ‎WhatsApp‎‏</a:t>
            </a:r>
            <a:endParaRPr lang="he-IL" sz="1150" dirty="0"/>
          </a:p>
        </p:txBody>
      </p:sp>
      <p:sp>
        <p:nvSpPr>
          <p:cNvPr id="25" name="Text 23"/>
          <p:cNvSpPr/>
          <p:nvPr/>
        </p:nvSpPr>
        <p:spPr>
          <a:xfrm>
            <a:off x="6510528" y="3465576"/>
            <a:ext cx="1581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‏ערוץ Native אחד לפי מדיניות הארגון‏</a:t>
            </a:r>
            <a:endParaRPr lang="he-IL" sz="880" dirty="0"/>
          </a:p>
        </p:txBody>
      </p:sp>
      <p:sp>
        <p:nvSpPr>
          <p:cNvPr id="26" name="Shape 24"/>
          <p:cNvSpPr/>
          <p:nvPr/>
        </p:nvSpPr>
        <p:spPr>
          <a:xfrm>
            <a:off x="3566160" y="2971800"/>
            <a:ext cx="1965960" cy="768096"/>
          </a:xfrm>
          <a:prstGeom prst="rect">
            <a:avLst/>
          </a:prstGeom>
          <a:solidFill>
            <a:srgbClr val="EAF0FF"/>
          </a:solidFill>
          <a:ln w="10160">
            <a:solidFill>
              <a:srgbClr val="CAD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136392"/>
            <a:ext cx="16367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‏Flow / Journey‏</a:t>
            </a:r>
            <a:endParaRPr lang="he-IL" sz="1150" dirty="0"/>
          </a:p>
        </p:txBody>
      </p:sp>
      <p:sp>
        <p:nvSpPr>
          <p:cNvPr id="28" name="Text 26"/>
          <p:cNvSpPr/>
          <p:nvPr/>
        </p:nvSpPr>
        <p:spPr>
          <a:xfrm>
            <a:off x="3767328" y="3465576"/>
            <a:ext cx="1581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‏הצהרה מראש על מנגנון ההפצה‏</a:t>
            </a:r>
            <a:endParaRPr lang="he-IL" sz="880" dirty="0"/>
          </a:p>
        </p:txBody>
      </p:sp>
      <p:sp>
        <p:nvSpPr>
          <p:cNvPr id="29" name="Shape 27"/>
          <p:cNvSpPr/>
          <p:nvPr/>
        </p:nvSpPr>
        <p:spPr>
          <a:xfrm>
            <a:off x="822960" y="2971800"/>
            <a:ext cx="1965960" cy="768096"/>
          </a:xfrm>
          <a:prstGeom prst="rect">
            <a:avLst/>
          </a:prstGeom>
          <a:solidFill>
            <a:srgbClr val="FFF6E3"/>
          </a:solidFill>
          <a:ln w="10160">
            <a:solidFill>
              <a:srgbClr val="FAD5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136392"/>
            <a:ext cx="16367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‏קישור בלבד‏</a:t>
            </a:r>
            <a:endParaRPr lang="he-IL" sz="1150" dirty="0"/>
          </a:p>
        </p:txBody>
      </p:sp>
      <p:sp>
        <p:nvSpPr>
          <p:cNvPr id="31" name="Text 29"/>
          <p:cNvSpPr/>
          <p:nvPr/>
        </p:nvSpPr>
        <p:spPr>
          <a:xfrm>
            <a:off x="1024128" y="3465576"/>
            <a:ext cx="1581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שותקת, הלקוח מפיץ בעצמו‏</a:t>
            </a:r>
            <a:endParaRPr lang="he-IL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‏תרחיש מובחן‏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‏‎Contact Center‎ בזמן אמת‏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932688"/>
            <a:ext cx="4069080" cy="356616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9224" y="1078992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152144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" y="1216152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51176"/>
            <a:ext cx="3520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‏מקום לצילום Agent Workspace‏</a:t>
            </a:r>
            <a:endParaRPr lang="he-IL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825496"/>
            <a:ext cx="32461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‏שיחה חיה + כפתור ‎easydo‎ + תוצאת חתימה‏</a:t>
            </a:r>
            <a:endParaRPr lang="he-IL" sz="820" dirty="0"/>
          </a:p>
        </p:txBody>
      </p:sp>
      <p:sp>
        <p:nvSpPr>
          <p:cNvPr id="14" name="Text 12"/>
          <p:cNvSpPr/>
          <p:nvPr/>
        </p:nvSpPr>
        <p:spPr>
          <a:xfrm>
            <a:off x="4937760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‏חתימה יכולה להתרחש תוך כדי שיחה חיה‏</a:t>
            </a:r>
            <a:endParaRPr lang="he-IL" sz="1500" dirty="0"/>
          </a:p>
        </p:txBody>
      </p:sp>
      <p:sp>
        <p:nvSpPr>
          <p:cNvPr id="15" name="Shape 13"/>
          <p:cNvSpPr/>
          <p:nvPr/>
        </p:nvSpPr>
        <p:spPr>
          <a:xfrm>
            <a:off x="5532120" y="1600200"/>
            <a:ext cx="292608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5048" y="1600200"/>
            <a:ext cx="73152" cy="6675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764792"/>
            <a:ext cx="2596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‏1. הנציג מזהה שיחה פעילה‏</a:t>
            </a:r>
            <a:endParaRPr lang="he-IL" sz="1150" dirty="0"/>
          </a:p>
        </p:txBody>
      </p:sp>
      <p:sp>
        <p:nvSpPr>
          <p:cNvPr id="18" name="Text 16"/>
          <p:cNvSpPr/>
          <p:nvPr/>
        </p:nvSpPr>
        <p:spPr>
          <a:xfrm>
            <a:off x="5733288" y="2093976"/>
            <a:ext cx="2542032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‏הפאנל קורא את ה-Conversation ואת הלקוח המקושר‏</a:t>
            </a:r>
            <a:endParaRPr lang="he-IL" sz="880" dirty="0"/>
          </a:p>
        </p:txBody>
      </p:sp>
      <p:sp>
        <p:nvSpPr>
          <p:cNvPr id="19" name="Shape 17"/>
          <p:cNvSpPr/>
          <p:nvPr/>
        </p:nvSpPr>
        <p:spPr>
          <a:xfrm>
            <a:off x="5532120" y="2395728"/>
            <a:ext cx="292608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5048" y="2395728"/>
            <a:ext cx="73152" cy="667512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560320"/>
            <a:ext cx="2596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‏2. הקישור נשלח באותו ערוץ‏</a:t>
            </a:r>
            <a:endParaRPr lang="he-IL" sz="1150" dirty="0"/>
          </a:p>
        </p:txBody>
      </p:sp>
      <p:sp>
        <p:nvSpPr>
          <p:cNvPr id="22" name="Text 20"/>
          <p:cNvSpPr/>
          <p:nvPr/>
        </p:nvSpPr>
        <p:spPr>
          <a:xfrm>
            <a:off x="5733288" y="2889504"/>
            <a:ext cx="2542032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‏Chat, ‎SMS‎ או ‎WhatsApp‎ - בלי להוציא את הלקוח מהשיחה‏</a:t>
            </a:r>
            <a:endParaRPr lang="he-IL" sz="880" dirty="0"/>
          </a:p>
        </p:txBody>
      </p:sp>
      <p:sp>
        <p:nvSpPr>
          <p:cNvPr id="23" name="Shape 21"/>
          <p:cNvSpPr/>
          <p:nvPr/>
        </p:nvSpPr>
        <p:spPr>
          <a:xfrm>
            <a:off x="5532120" y="3191256"/>
            <a:ext cx="292608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5048" y="3191256"/>
            <a:ext cx="73152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355848"/>
            <a:ext cx="2596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‏3. התוצאה חוזרת לנציג‏</a:t>
            </a:r>
            <a:endParaRPr lang="he-IL" sz="1150" dirty="0"/>
          </a:p>
        </p:txBody>
      </p:sp>
      <p:sp>
        <p:nvSpPr>
          <p:cNvPr id="26" name="Text 24"/>
          <p:cNvSpPr/>
          <p:nvPr/>
        </p:nvSpPr>
        <p:spPr>
          <a:xfrm>
            <a:off x="5733288" y="3685032"/>
            <a:ext cx="2542032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‏אפשר לראות חתימה בזמן אמת ולשמור על Contact או Case‏</a:t>
            </a:r>
            <a:endParaRPr lang="he-IL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‏‎Power Platform‎ native‏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‏ארכיטקטורה עסקית‏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834640" y="932688"/>
            <a:ext cx="565099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‏בנוי על רכיבי ‎Microsoft‎ מוכרים, עם ‎easydo‎ כשירות החתימה‏</a:t>
            </a:r>
            <a:endParaRPr lang="he-IL" sz="1500" dirty="0"/>
          </a:p>
        </p:txBody>
      </p:sp>
      <p:sp>
        <p:nvSpPr>
          <p:cNvPr id="9" name="Shape 7"/>
          <p:cNvSpPr/>
          <p:nvPr/>
        </p:nvSpPr>
        <p:spPr>
          <a:xfrm>
            <a:off x="1828800" y="1481328"/>
            <a:ext cx="6355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8432" y="1481328"/>
            <a:ext cx="15544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18488"/>
            <a:ext cx="1371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7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‏חוויית משתמש‏</a:t>
            </a:r>
            <a:endParaRPr lang="he-IL" sz="870" dirty="0"/>
          </a:p>
        </p:txBody>
      </p:sp>
      <p:sp>
        <p:nvSpPr>
          <p:cNvPr id="12" name="Text 10"/>
          <p:cNvSpPr/>
          <p:nvPr/>
        </p:nvSpPr>
        <p:spPr>
          <a:xfrm>
            <a:off x="2057400" y="1618488"/>
            <a:ext cx="3886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1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bar, side pane, wizard, PCF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1828800" y="2194560"/>
            <a:ext cx="6355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8432" y="2194560"/>
            <a:ext cx="155448" cy="50292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31720"/>
            <a:ext cx="1371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7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‏אורקסטרציה‏</a:t>
            </a:r>
            <a:endParaRPr lang="he-IL" sz="870" dirty="0"/>
          </a:p>
        </p:txBody>
      </p:sp>
      <p:sp>
        <p:nvSpPr>
          <p:cNvPr id="16" name="Text 14"/>
          <p:cNvSpPr/>
          <p:nvPr/>
        </p:nvSpPr>
        <p:spPr>
          <a:xfrm>
            <a:off x="2057400" y="2331720"/>
            <a:ext cx="3886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1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Automate solution-aware flows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1828800" y="2907792"/>
            <a:ext cx="6355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2907792"/>
            <a:ext cx="15544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044952"/>
            <a:ext cx="1371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7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‏נתונים ומעקב‏</a:t>
            </a:r>
            <a:endParaRPr lang="he-IL" sz="870" dirty="0"/>
          </a:p>
        </p:txBody>
      </p:sp>
      <p:sp>
        <p:nvSpPr>
          <p:cNvPr id="20" name="Text 18"/>
          <p:cNvSpPr/>
          <p:nvPr/>
        </p:nvSpPr>
        <p:spPr>
          <a:xfrm>
            <a:off x="2057400" y="3044952"/>
            <a:ext cx="3886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1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Dataverse tables, status, field values, documents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1828800" y="3621024"/>
            <a:ext cx="6355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28432" y="3621024"/>
            <a:ext cx="155448" cy="502920"/>
          </a:xfrm>
          <a:prstGeom prst="rect">
            <a:avLst/>
          </a:prstGeom>
          <a:solidFill>
            <a:srgbClr val="27364A"/>
          </a:solidFill>
          <a:ln w="12700">
            <a:solidFill>
              <a:srgbClr val="273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758184"/>
            <a:ext cx="1371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7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‏שירות חתימה‏</a:t>
            </a:r>
            <a:endParaRPr lang="he-IL" sz="870" dirty="0"/>
          </a:p>
        </p:txBody>
      </p:sp>
      <p:sp>
        <p:nvSpPr>
          <p:cNvPr id="24" name="Text 22"/>
          <p:cNvSpPr/>
          <p:nvPr/>
        </p:nvSpPr>
        <p:spPr>
          <a:xfrm>
            <a:off x="2057400" y="3758184"/>
            <a:ext cx="3886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1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Connector מול easydo API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502920" y="1481328"/>
            <a:ext cx="1051560" cy="274320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9224" y="1627632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1700784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" y="1764792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2688336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‏לוגואים‏</a:t>
            </a:r>
            <a:endParaRPr lang="he-IL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‏Enterprise ready‏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‏אבטחה וממשל‏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051560"/>
            <a:ext cx="24688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76488" y="1051560"/>
            <a:ext cx="73152" cy="96012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216152"/>
            <a:ext cx="21396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‏סודות נשמרים ב-Connection‏</a:t>
            </a:r>
            <a:endParaRPr lang="he-IL" sz="1150" dirty="0"/>
          </a:p>
        </p:txBody>
      </p:sp>
      <p:sp>
        <p:nvSpPr>
          <p:cNvPr id="11" name="Text 9"/>
          <p:cNvSpPr/>
          <p:nvPr/>
        </p:nvSpPr>
        <p:spPr>
          <a:xfrm>
            <a:off x="6281928" y="1545336"/>
            <a:ext cx="208483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‏ה-token של ‎easydo‎ לא נשמר בקוד, לא ב-flow ולא במצגת‏</a:t>
            </a:r>
            <a:endParaRPr lang="he-IL" sz="880" dirty="0"/>
          </a:p>
        </p:txBody>
      </p:sp>
      <p:sp>
        <p:nvSpPr>
          <p:cNvPr id="12" name="Shape 10"/>
          <p:cNvSpPr/>
          <p:nvPr/>
        </p:nvSpPr>
        <p:spPr>
          <a:xfrm>
            <a:off x="3383280" y="1051560"/>
            <a:ext cx="24688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79008" y="105156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216152"/>
            <a:ext cx="21396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‏גישה לפי הרשאות Dynamics‏</a:t>
            </a:r>
            <a:endParaRPr lang="he-IL" sz="1150" dirty="0"/>
          </a:p>
        </p:txBody>
      </p:sp>
      <p:sp>
        <p:nvSpPr>
          <p:cNvPr id="15" name="Text 13"/>
          <p:cNvSpPr/>
          <p:nvPr/>
        </p:nvSpPr>
        <p:spPr>
          <a:xfrm>
            <a:off x="3584448" y="1545336"/>
            <a:ext cx="208483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‏מסמך חתום נגיש לפי הרשאות הרשומה המקורית‏</a:t>
            </a:r>
            <a:endParaRPr lang="he-IL" sz="880" dirty="0"/>
          </a:p>
        </p:txBody>
      </p:sp>
      <p:sp>
        <p:nvSpPr>
          <p:cNvPr id="16" name="Shape 14"/>
          <p:cNvSpPr/>
          <p:nvPr/>
        </p:nvSpPr>
        <p:spPr>
          <a:xfrm>
            <a:off x="685800" y="1051560"/>
            <a:ext cx="24688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81528" y="105156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216152"/>
            <a:ext cx="21396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‏תיעוד ובקרה‏</a:t>
            </a:r>
            <a:endParaRPr lang="he-IL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1545336"/>
            <a:ext cx="208483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‏סטטוסים, Audit, Integration Log וסיכומי שגיאות בטוחים‏</a:t>
            </a:r>
            <a:endParaRPr lang="he-IL" sz="880" dirty="0"/>
          </a:p>
        </p:txBody>
      </p:sp>
      <p:sp>
        <p:nvSpPr>
          <p:cNvPr id="20" name="Shape 18"/>
          <p:cNvSpPr/>
          <p:nvPr/>
        </p:nvSpPr>
        <p:spPr>
          <a:xfrm>
            <a:off x="4709160" y="2487168"/>
            <a:ext cx="3840480" cy="1078992"/>
          </a:xfrm>
          <a:prstGeom prst="rect">
            <a:avLst/>
          </a:prstGeom>
          <a:solidFill>
            <a:srgbClr val="E9F7EF"/>
          </a:solidFill>
          <a:ln w="10160">
            <a:solidFill>
              <a:srgbClr val="BDE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51760"/>
            <a:ext cx="35112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‏Outbound only במודל הראשוני‏</a:t>
            </a:r>
            <a:endParaRPr lang="he-IL" sz="1150" dirty="0"/>
          </a:p>
        </p:txBody>
      </p:sp>
      <p:sp>
        <p:nvSpPr>
          <p:cNvPr id="22" name="Text 20"/>
          <p:cNvSpPr/>
          <p:nvPr/>
        </p:nvSpPr>
        <p:spPr>
          <a:xfrm>
            <a:off x="4910328" y="2980944"/>
            <a:ext cx="345643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‏‎Power Automate‎ קורא ל-‎easydo‎. אין endpoint נכנס ב-‎MVP‎, ולכן שטח התקיפה הראשוני קטן יותר.‏</a:t>
            </a:r>
            <a:endParaRPr lang="he-IL" sz="880" dirty="0"/>
          </a:p>
        </p:txBody>
      </p:sp>
      <p:sp>
        <p:nvSpPr>
          <p:cNvPr id="23" name="Shape 21"/>
          <p:cNvSpPr/>
          <p:nvPr/>
        </p:nvSpPr>
        <p:spPr>
          <a:xfrm>
            <a:off x="685800" y="2487168"/>
            <a:ext cx="3840480" cy="1078992"/>
          </a:xfrm>
          <a:prstGeom prst="rect">
            <a:avLst/>
          </a:prstGeom>
          <a:solidFill>
            <a:srgbClr val="EAF0FF"/>
          </a:solidFill>
          <a:ln w="10160">
            <a:solidFill>
              <a:srgbClr val="CA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651760"/>
            <a:ext cx="35112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‏‎DLP‎ ותפקידי אבטחה‏</a:t>
            </a:r>
            <a:endParaRPr lang="he-IL" sz="1150" dirty="0"/>
          </a:p>
        </p:txBody>
      </p:sp>
      <p:sp>
        <p:nvSpPr>
          <p:cNvPr id="25" name="Text 23"/>
          <p:cNvSpPr/>
          <p:nvPr/>
        </p:nvSpPr>
        <p:spPr>
          <a:xfrm>
            <a:off x="886968" y="2980944"/>
            <a:ext cx="345643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‏אפשר להפריד בין Admin, Sender, Viewer, Manager ו-Auditor לפי צורכי הארגון.‏</a:t>
            </a:r>
            <a:endParaRPr lang="he-IL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‏Before / After‏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‏הערך ללקוח‏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91840" y="914400"/>
            <a:ext cx="5212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‏פחות זמן, פחות טעויות, יותר שליטה‏</a:t>
            </a:r>
            <a:endParaRPr lang="he-IL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481328"/>
            <a:ext cx="3767328" cy="2487168"/>
          </a:xfrm>
          <a:prstGeom prst="rect">
            <a:avLst/>
          </a:prstGeom>
          <a:solidFill>
            <a:srgbClr val="FCECEC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1504" y="1700784"/>
            <a:ext cx="777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9F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‏לפני‏</a:t>
            </a:r>
            <a:endParaRPr lang="he-IL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2057400"/>
            <a:ext cx="2926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60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‏שליחה ידנית מחוץ ל-Dynamics‏</a:t>
            </a:r>
            <a:endParaRPr lang="he-IL" sz="860" dirty="0"/>
          </a:p>
        </p:txBody>
      </p:sp>
      <p:sp>
        <p:nvSpPr>
          <p:cNvPr id="12" name="Text 10"/>
          <p:cNvSpPr/>
          <p:nvPr/>
        </p:nvSpPr>
        <p:spPr>
          <a:xfrm>
            <a:off x="5074920" y="2441448"/>
            <a:ext cx="2926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60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‏מעקב ב-email או Excel‏</a:t>
            </a:r>
            <a:endParaRPr lang="he-IL" sz="860" dirty="0"/>
          </a:p>
        </p:txBody>
      </p:sp>
      <p:sp>
        <p:nvSpPr>
          <p:cNvPr id="13" name="Text 11"/>
          <p:cNvSpPr/>
          <p:nvPr/>
        </p:nvSpPr>
        <p:spPr>
          <a:xfrm>
            <a:off x="5074920" y="2825496"/>
            <a:ext cx="2926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60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‏‎PDF‎ נשמר במקום לא אחיד‏</a:t>
            </a:r>
            <a:endParaRPr lang="he-IL" sz="860" dirty="0"/>
          </a:p>
        </p:txBody>
      </p:sp>
      <p:sp>
        <p:nvSpPr>
          <p:cNvPr id="14" name="Text 12"/>
          <p:cNvSpPr/>
          <p:nvPr/>
        </p:nvSpPr>
        <p:spPr>
          <a:xfrm>
            <a:off x="5074920" y="3209544"/>
            <a:ext cx="2926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60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‏הקלדה חוזרת של נתונים‏</a:t>
            </a:r>
            <a:endParaRPr lang="he-IL" sz="860" dirty="0"/>
          </a:p>
        </p:txBody>
      </p:sp>
      <p:sp>
        <p:nvSpPr>
          <p:cNvPr id="15" name="Shape 13"/>
          <p:cNvSpPr/>
          <p:nvPr/>
        </p:nvSpPr>
        <p:spPr>
          <a:xfrm>
            <a:off x="685800" y="1481328"/>
            <a:ext cx="3767328" cy="2487168"/>
          </a:xfrm>
          <a:prstGeom prst="rect">
            <a:avLst/>
          </a:prstGeom>
          <a:solidFill>
            <a:srgbClr val="E9F7EF"/>
          </a:solidFill>
          <a:ln w="12700">
            <a:solidFill>
              <a:srgbClr val="BDE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700784"/>
            <a:ext cx="777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‏אחרי‏</a:t>
            </a:r>
            <a:endParaRPr lang="he-IL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057400"/>
            <a:ext cx="2926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60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‏שליחה מתוך הרשומה‏</a:t>
            </a:r>
            <a:endParaRPr lang="he-IL" sz="860" dirty="0"/>
          </a:p>
        </p:txBody>
      </p:sp>
      <p:sp>
        <p:nvSpPr>
          <p:cNvPr id="18" name="Text 16"/>
          <p:cNvSpPr/>
          <p:nvPr/>
        </p:nvSpPr>
        <p:spPr>
          <a:xfrm>
            <a:off x="1051560" y="2441448"/>
            <a:ext cx="2926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60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‏סטטוס אוטומטי ב-‎Dataverse‎‏</a:t>
            </a:r>
            <a:endParaRPr lang="he-IL" sz="860" dirty="0"/>
          </a:p>
        </p:txBody>
      </p:sp>
      <p:sp>
        <p:nvSpPr>
          <p:cNvPr id="19" name="Text 17"/>
          <p:cNvSpPr/>
          <p:nvPr/>
        </p:nvSpPr>
        <p:spPr>
          <a:xfrm>
            <a:off x="1051560" y="2825496"/>
            <a:ext cx="2926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60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‏מסמך חתום בציר הזמן‏</a:t>
            </a:r>
            <a:endParaRPr lang="he-IL" sz="860" dirty="0"/>
          </a:p>
        </p:txBody>
      </p:sp>
      <p:sp>
        <p:nvSpPr>
          <p:cNvPr id="20" name="Text 18"/>
          <p:cNvSpPr/>
          <p:nvPr/>
        </p:nvSpPr>
        <p:spPr>
          <a:xfrm>
            <a:off x="1051560" y="3209544"/>
            <a:ext cx="2926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60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‏ערכים חוזרים כנתוני תהליך‏</a:t>
            </a:r>
            <a:endParaRPr lang="he-IL" sz="8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‏איפה מתחילים‏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‏תרחישי שימוש מובילים‏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261872"/>
            <a:ext cx="2359152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71800" y="1261872"/>
            <a:ext cx="73152" cy="969264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26464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‏KYC / הכר את הלקוח‏</a:t>
            </a:r>
            <a:endParaRPr lang="he-IL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1755648"/>
            <a:ext cx="19751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0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‏מילוי פרטי לקוח, הצהרות וחתימה‏</a:t>
            </a:r>
            <a:endParaRPr lang="he-IL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261872"/>
            <a:ext cx="2359152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261872"/>
            <a:ext cx="73152" cy="9692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426464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‏חוזה לקוח‏</a:t>
            </a:r>
            <a:endParaRPr lang="he-IL" sz="1150" dirty="0"/>
          </a:p>
        </p:txBody>
      </p:sp>
      <p:sp>
        <p:nvSpPr>
          <p:cNvPr id="15" name="Text 13"/>
          <p:cNvSpPr/>
          <p:nvPr/>
        </p:nvSpPr>
        <p:spPr>
          <a:xfrm>
            <a:off x="3584448" y="1755648"/>
            <a:ext cx="19751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0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‏שליחה מתוך Contact או Account‏</a:t>
            </a:r>
            <a:endParaRPr lang="he-IL" sz="800" dirty="0"/>
          </a:p>
        </p:txBody>
      </p:sp>
      <p:sp>
        <p:nvSpPr>
          <p:cNvPr id="16" name="Shape 14"/>
          <p:cNvSpPr/>
          <p:nvPr/>
        </p:nvSpPr>
        <p:spPr>
          <a:xfrm>
            <a:off x="6080760" y="1261872"/>
            <a:ext cx="2359152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261872"/>
            <a:ext cx="73152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426464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‏טופס הצטרפות‏</a:t>
            </a:r>
            <a:endParaRPr lang="he-IL" sz="1150" dirty="0"/>
          </a:p>
        </p:txBody>
      </p:sp>
      <p:sp>
        <p:nvSpPr>
          <p:cNvPr id="19" name="Text 17"/>
          <p:cNvSpPr/>
          <p:nvPr/>
        </p:nvSpPr>
        <p:spPr>
          <a:xfrm>
            <a:off x="6281928" y="1755648"/>
            <a:ext cx="19751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0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‏נתונים נמשכים מהרשומה וחוזרים אחרי חתימה‏</a:t>
            </a:r>
            <a:endParaRPr lang="he-IL" sz="800" dirty="0"/>
          </a:p>
        </p:txBody>
      </p:sp>
      <p:sp>
        <p:nvSpPr>
          <p:cNvPr id="20" name="Shape 18"/>
          <p:cNvSpPr/>
          <p:nvPr/>
        </p:nvSpPr>
        <p:spPr>
          <a:xfrm>
            <a:off x="685800" y="2560320"/>
            <a:ext cx="2359152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71800" y="2560320"/>
            <a:ext cx="73152" cy="969264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724912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‏אישור שירות‏</a:t>
            </a:r>
            <a:endParaRPr lang="he-IL" sz="1150" dirty="0"/>
          </a:p>
        </p:txBody>
      </p:sp>
      <p:sp>
        <p:nvSpPr>
          <p:cNvPr id="23" name="Text 21"/>
          <p:cNvSpPr/>
          <p:nvPr/>
        </p:nvSpPr>
        <p:spPr>
          <a:xfrm>
            <a:off x="886968" y="3054096"/>
            <a:ext cx="19751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0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‏חתימה מתוך Case או Work Order‏</a:t>
            </a:r>
            <a:endParaRPr lang="he-IL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2560320"/>
            <a:ext cx="2359152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2560320"/>
            <a:ext cx="73152" cy="9692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724912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‏‎Contact Center‎‏</a:t>
            </a:r>
            <a:endParaRPr lang="he-IL" sz="1150" dirty="0"/>
          </a:p>
        </p:txBody>
      </p:sp>
      <p:sp>
        <p:nvSpPr>
          <p:cNvPr id="27" name="Text 25"/>
          <p:cNvSpPr/>
          <p:nvPr/>
        </p:nvSpPr>
        <p:spPr>
          <a:xfrm>
            <a:off x="3584448" y="3054096"/>
            <a:ext cx="19751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0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‏שליחה באותו ערוץ שיחה‏</a:t>
            </a:r>
            <a:endParaRPr lang="he-IL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2560320"/>
            <a:ext cx="2359152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66760" y="2560320"/>
            <a:ext cx="73152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724912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‏אישורי ציוד / רכב‏</a:t>
            </a:r>
            <a:endParaRPr lang="he-IL" sz="1150" dirty="0"/>
          </a:p>
        </p:txBody>
      </p:sp>
      <p:sp>
        <p:nvSpPr>
          <p:cNvPr id="31" name="Text 29"/>
          <p:cNvSpPr/>
          <p:nvPr/>
        </p:nvSpPr>
        <p:spPr>
          <a:xfrm>
            <a:off x="6281928" y="3054096"/>
            <a:ext cx="19751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0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‏ריבוי תפקידים וסדר חתימה‏</a:t>
            </a:r>
            <a:endParaRPr lang="he-IL" sz="800" dirty="0"/>
          </a:p>
        </p:txBody>
      </p:sp>
      <p:sp>
        <p:nvSpPr>
          <p:cNvPr id="32" name="Shape 30"/>
          <p:cNvSpPr/>
          <p:nvPr/>
        </p:nvSpPr>
        <p:spPr>
          <a:xfrm>
            <a:off x="685800" y="4069080"/>
            <a:ext cx="7845552" cy="50292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32104" y="4215384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6112" y="4288536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" y="4352544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155948"/>
            <a:ext cx="72969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‏מקום לרצועת לוגואים / אייקונים‏</a:t>
            </a:r>
            <a:endParaRPr lang="he-IL" sz="1300" dirty="0"/>
          </a:p>
        </p:txBody>
      </p:sp>
      <p:sp>
        <p:nvSpPr>
          <p:cNvPr id="37" name="Text 35"/>
          <p:cNvSpPr/>
          <p:nvPr/>
        </p:nvSpPr>
        <p:spPr>
          <a:xfrm>
            <a:off x="1097280" y="4430268"/>
            <a:ext cx="702259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‏אפשר להוסיף אייקון לכל תרחיש או צילום מסך קצר‏</a:t>
            </a:r>
            <a:endParaRPr lang="he-IL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‏Call to action‏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‏תוכנית פיילוט מוצעת‏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472184" y="118872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36776" y="136245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‏1‏</a:t>
            </a:r>
            <a:endParaRPr lang="he-IL" sz="880" dirty="0"/>
          </a:p>
        </p:txBody>
      </p:sp>
      <p:sp>
        <p:nvSpPr>
          <p:cNvPr id="10" name="Shape 8"/>
          <p:cNvSpPr/>
          <p:nvPr/>
        </p:nvSpPr>
        <p:spPr>
          <a:xfrm>
            <a:off x="740664" y="1453896"/>
            <a:ext cx="512064" cy="0"/>
          </a:xfrm>
          <a:prstGeom prst="line">
            <a:avLst/>
          </a:prstGeom>
          <a:noFill/>
          <a:ln w="17780">
            <a:solidFill>
              <a:srgbClr val="96A4B8"/>
            </a:solidFill>
            <a:prstDash val="solid"/>
            <a:headEnd type="triangl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77240" y="2011680"/>
            <a:ext cx="16916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76272"/>
            <a:ext cx="13624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‏בחירת תהליך אחד‏</a:t>
            </a:r>
            <a:endParaRPr lang="he-IL" sz="1150" dirty="0"/>
          </a:p>
        </p:txBody>
      </p:sp>
      <p:sp>
        <p:nvSpPr>
          <p:cNvPr id="13" name="Text 11"/>
          <p:cNvSpPr/>
          <p:nvPr/>
        </p:nvSpPr>
        <p:spPr>
          <a:xfrm>
            <a:off x="978408" y="2505456"/>
            <a:ext cx="13075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7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‏למשל KYC, חוזה או טופס שירות‏</a:t>
            </a:r>
            <a:endParaRPr lang="he-IL" sz="770" dirty="0"/>
          </a:p>
        </p:txBody>
      </p:sp>
      <p:sp>
        <p:nvSpPr>
          <p:cNvPr id="14" name="Shape 12"/>
          <p:cNvSpPr/>
          <p:nvPr/>
        </p:nvSpPr>
        <p:spPr>
          <a:xfrm>
            <a:off x="3438144" y="118872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136245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‏2‏</a:t>
            </a:r>
            <a:endParaRPr lang="he-IL" sz="880" dirty="0"/>
          </a:p>
        </p:txBody>
      </p:sp>
      <p:sp>
        <p:nvSpPr>
          <p:cNvPr id="16" name="Shape 14"/>
          <p:cNvSpPr/>
          <p:nvPr/>
        </p:nvSpPr>
        <p:spPr>
          <a:xfrm>
            <a:off x="2706624" y="1453896"/>
            <a:ext cx="512064" cy="0"/>
          </a:xfrm>
          <a:prstGeom prst="line">
            <a:avLst/>
          </a:prstGeom>
          <a:noFill/>
          <a:ln w="17780">
            <a:solidFill>
              <a:srgbClr val="96A4B8"/>
            </a:solidFill>
            <a:prstDash val="solid"/>
            <a:headEnd type="triangl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743200" y="2011680"/>
            <a:ext cx="16916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176272"/>
            <a:ext cx="13624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‏חיבור תבנית ‎easydo‎‏</a:t>
            </a:r>
            <a:endParaRPr lang="he-IL" sz="1150" dirty="0"/>
          </a:p>
        </p:txBody>
      </p:sp>
      <p:sp>
        <p:nvSpPr>
          <p:cNvPr id="19" name="Text 17"/>
          <p:cNvSpPr/>
          <p:nvPr/>
        </p:nvSpPr>
        <p:spPr>
          <a:xfrm>
            <a:off x="2944368" y="2505456"/>
            <a:ext cx="13075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7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‏סנכרון שדות ומיפוי ל-Dynamics‏</a:t>
            </a:r>
            <a:endParaRPr lang="he-IL" sz="770" dirty="0"/>
          </a:p>
        </p:txBody>
      </p:sp>
      <p:sp>
        <p:nvSpPr>
          <p:cNvPr id="20" name="Shape 18"/>
          <p:cNvSpPr/>
          <p:nvPr/>
        </p:nvSpPr>
        <p:spPr>
          <a:xfrm>
            <a:off x="5404104" y="118872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136245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‏3‏</a:t>
            </a:r>
            <a:endParaRPr lang="he-IL" sz="880" dirty="0"/>
          </a:p>
        </p:txBody>
      </p:sp>
      <p:sp>
        <p:nvSpPr>
          <p:cNvPr id="22" name="Shape 20"/>
          <p:cNvSpPr/>
          <p:nvPr/>
        </p:nvSpPr>
        <p:spPr>
          <a:xfrm>
            <a:off x="4672584" y="1453896"/>
            <a:ext cx="512064" cy="0"/>
          </a:xfrm>
          <a:prstGeom prst="line">
            <a:avLst/>
          </a:prstGeom>
          <a:noFill/>
          <a:ln w="17780">
            <a:solidFill>
              <a:srgbClr val="96A4B8"/>
            </a:solidFill>
            <a:prstDash val="solid"/>
            <a:headEnd type="triangl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709160" y="2011680"/>
            <a:ext cx="16916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176272"/>
            <a:ext cx="13624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‏דמו מקצה לקצה‏</a:t>
            </a:r>
            <a:endParaRPr lang="he-IL" sz="1150" dirty="0"/>
          </a:p>
        </p:txBody>
      </p:sp>
      <p:sp>
        <p:nvSpPr>
          <p:cNvPr id="25" name="Text 23"/>
          <p:cNvSpPr/>
          <p:nvPr/>
        </p:nvSpPr>
        <p:spPr>
          <a:xfrm>
            <a:off x="4910328" y="2505456"/>
            <a:ext cx="13075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7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‏שליחה, חתימה, חזרה ל-‎Dataverse‎‏</a:t>
            </a:r>
            <a:endParaRPr lang="he-IL" sz="770" dirty="0"/>
          </a:p>
        </p:txBody>
      </p:sp>
      <p:sp>
        <p:nvSpPr>
          <p:cNvPr id="26" name="Shape 24"/>
          <p:cNvSpPr/>
          <p:nvPr/>
        </p:nvSpPr>
        <p:spPr>
          <a:xfrm>
            <a:off x="7370064" y="1188720"/>
            <a:ext cx="530352" cy="530352"/>
          </a:xfrm>
          <a:prstGeom prst="ellipse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136245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‏4‏</a:t>
            </a:r>
            <a:endParaRPr lang="he-IL" sz="880" dirty="0"/>
          </a:p>
        </p:txBody>
      </p:sp>
      <p:sp>
        <p:nvSpPr>
          <p:cNvPr id="28" name="Shape 26"/>
          <p:cNvSpPr/>
          <p:nvPr/>
        </p:nvSpPr>
        <p:spPr>
          <a:xfrm>
            <a:off x="6675120" y="2011680"/>
            <a:ext cx="16916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176272"/>
            <a:ext cx="13624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‏הרחבה מבוקרת‏</a:t>
            </a:r>
            <a:endParaRPr lang="he-IL" sz="1150" dirty="0"/>
          </a:p>
        </p:txBody>
      </p:sp>
      <p:sp>
        <p:nvSpPr>
          <p:cNvPr id="30" name="Text 28"/>
          <p:cNvSpPr/>
          <p:nvPr/>
        </p:nvSpPr>
        <p:spPr>
          <a:xfrm>
            <a:off x="6876288" y="2505456"/>
            <a:ext cx="13075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77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‏עוד טבלאות, ערוצים ותפקידי אבטחה‏</a:t>
            </a:r>
            <a:endParaRPr lang="he-IL" sz="770" dirty="0"/>
          </a:p>
        </p:txBody>
      </p:sp>
      <p:sp>
        <p:nvSpPr>
          <p:cNvPr id="31" name="Text 29"/>
          <p:cNvSpPr/>
          <p:nvPr/>
        </p:nvSpPr>
        <p:spPr>
          <a:xfrm>
            <a:off x="1051560" y="3703320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15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‏הצעה לפתיחה: פיילוט של שבועיים עד ארבעה שבועות על תהליך אחד עם תבנית אחת וקבוצת משתמשים מוגדרת.‏</a:t>
            </a:r>
            <a:endParaRPr lang="he-IL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92608"/>
            <a:ext cx="2011680" cy="201168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324612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730" b="1" dirty="0">
                <a:solidFill>
                  <a:srgbClr val="187A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‏לעריכת המצגת‏</a:t>
            </a:r>
            <a:endParaRPr lang="he-IL" sz="730" dirty="0"/>
          </a:p>
        </p:txBody>
      </p:sp>
      <p:sp>
        <p:nvSpPr>
          <p:cNvPr id="5" name="Text 3"/>
          <p:cNvSpPr/>
          <p:nvPr/>
        </p:nvSpPr>
        <p:spPr>
          <a:xfrm>
            <a:off x="3063240" y="51206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‏נספח פנימי: עברית, ‎RTL‎ ומילים באנגלית‏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he-IL" altLang="en-US" sz="68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‏‎easydo‎ × ‎Dynamics 365‎‏</a:t>
            </a:r>
            <a:endParaRPr lang="he-IL" sz="680" dirty="0"/>
          </a:p>
        </p:txBody>
      </p:sp>
      <p:sp>
        <p:nvSpPr>
          <p:cNvPr id="7" name="Text 5"/>
          <p:cNvSpPr/>
          <p:nvPr/>
        </p:nvSpPr>
        <p:spPr>
          <a:xfrm>
            <a:off x="8458200" y="4727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3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880360" y="950976"/>
            <a:ext cx="5623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‏שקף זה מיועד למי שעורך את המצגת, לא בהכרח להצגה ללקוח‏</a:t>
            </a:r>
            <a:endParaRPr lang="he-IL" sz="1250" dirty="0"/>
          </a:p>
        </p:txBody>
      </p:sp>
      <p:sp>
        <p:nvSpPr>
          <p:cNvPr id="9" name="Shape 7"/>
          <p:cNvSpPr/>
          <p:nvPr/>
        </p:nvSpPr>
        <p:spPr>
          <a:xfrm>
            <a:off x="5715000" y="1417320"/>
            <a:ext cx="2788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1417320"/>
            <a:ext cx="73152" cy="868680"/>
          </a:xfrm>
          <a:prstGeom prst="rect">
            <a:avLst/>
          </a:prstGeom>
          <a:solidFill>
            <a:srgbClr val="28A866"/>
          </a:solidFill>
          <a:ln w="12700">
            <a:solidFill>
              <a:srgbClr val="28A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581912"/>
            <a:ext cx="2459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‏כלל 1: לא להצמיד עברית ואנגלית‏</a:t>
            </a:r>
            <a:endParaRPr lang="he-IL" sz="1150" dirty="0"/>
          </a:p>
        </p:txBody>
      </p:sp>
      <p:sp>
        <p:nvSpPr>
          <p:cNvPr id="12" name="Text 10"/>
          <p:cNvSpPr/>
          <p:nvPr/>
        </p:nvSpPr>
        <p:spPr>
          <a:xfrm>
            <a:off x="5916168" y="1911096"/>
            <a:ext cx="2404872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‏להשאיר רווח לפני ואחרי ‎easydo‎, ‎Dynamics 365‎, ‎Power Platform‎ וכל מונח באנגלית‏</a:t>
            </a:r>
            <a:endParaRPr lang="he-IL" sz="880" dirty="0"/>
          </a:p>
        </p:txBody>
      </p:sp>
      <p:sp>
        <p:nvSpPr>
          <p:cNvPr id="13" name="Shape 11"/>
          <p:cNvSpPr/>
          <p:nvPr/>
        </p:nvSpPr>
        <p:spPr>
          <a:xfrm>
            <a:off x="5715000" y="2468880"/>
            <a:ext cx="2788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30768" y="246888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633472"/>
            <a:ext cx="2459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‏כלל 2: פיסוק בעברית‏</a:t>
            </a:r>
            <a:endParaRPr lang="he-IL" sz="1150" dirty="0"/>
          </a:p>
        </p:txBody>
      </p:sp>
      <p:sp>
        <p:nvSpPr>
          <p:cNvPr id="16" name="Text 14"/>
          <p:cNvSpPr/>
          <p:nvPr/>
        </p:nvSpPr>
        <p:spPr>
          <a:xfrm>
            <a:off x="5916168" y="2962656"/>
            <a:ext cx="2404872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‏עדיף לסיים משפט עברי אחרי מילה עברית. אם חייבים לסיים אחרי ‎PDF‎ או ‎API‎, לבדוק ידנית ב-‎PowerPoint‎‏</a:t>
            </a:r>
            <a:endParaRPr lang="he-IL" sz="880" dirty="0"/>
          </a:p>
        </p:txBody>
      </p:sp>
      <p:sp>
        <p:nvSpPr>
          <p:cNvPr id="17" name="Shape 15"/>
          <p:cNvSpPr/>
          <p:nvPr/>
        </p:nvSpPr>
        <p:spPr>
          <a:xfrm>
            <a:off x="2697480" y="1417320"/>
            <a:ext cx="269748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1808" y="14173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1581912"/>
            <a:ext cx="23682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‏כלל 3: מונחים טכניים‏</a:t>
            </a:r>
            <a:endParaRPr lang="he-IL" sz="1150" dirty="0"/>
          </a:p>
        </p:txBody>
      </p:sp>
      <p:sp>
        <p:nvSpPr>
          <p:cNvPr id="20" name="Text 18"/>
          <p:cNvSpPr/>
          <p:nvPr/>
        </p:nvSpPr>
        <p:spPr>
          <a:xfrm>
            <a:off x="2898648" y="1911096"/>
            <a:ext cx="2313432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‏כאשר יש ביטוי ארוך באנגלית, עדיף לשים אותו בשורה נפרדת או בכרטיס נפרד‏</a:t>
            </a:r>
            <a:endParaRPr lang="he-IL" sz="880" dirty="0"/>
          </a:p>
        </p:txBody>
      </p:sp>
      <p:sp>
        <p:nvSpPr>
          <p:cNvPr id="21" name="Shape 19"/>
          <p:cNvSpPr/>
          <p:nvPr/>
        </p:nvSpPr>
        <p:spPr>
          <a:xfrm>
            <a:off x="2697480" y="2468880"/>
            <a:ext cx="269748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21808" y="2468880"/>
            <a:ext cx="73152" cy="868680"/>
          </a:xfrm>
          <a:prstGeom prst="rect">
            <a:avLst/>
          </a:prstGeom>
          <a:solidFill>
            <a:srgbClr val="27364A"/>
          </a:solidFill>
          <a:ln w="12700">
            <a:solidFill>
              <a:srgbClr val="273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2633472"/>
            <a:ext cx="23682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‏כלל 4: הערות מציג‏</a:t>
            </a:r>
            <a:endParaRPr lang="he-IL" sz="1150" dirty="0"/>
          </a:p>
        </p:txBody>
      </p:sp>
      <p:sp>
        <p:nvSpPr>
          <p:cNvPr id="24" name="Text 22"/>
          <p:cNvSpPr/>
          <p:nvPr/>
        </p:nvSpPr>
        <p:spPr>
          <a:xfrm>
            <a:off x="2898648" y="2962656"/>
            <a:ext cx="2313432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88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‏לכל שקף יש notes עם מטרת השקף, מה להגיד, הכנה ותשובות לשאלות‏</a:t>
            </a:r>
            <a:endParaRPr lang="he-IL" sz="880" dirty="0"/>
          </a:p>
        </p:txBody>
      </p:sp>
      <p:sp>
        <p:nvSpPr>
          <p:cNvPr id="25" name="Shape 23"/>
          <p:cNvSpPr/>
          <p:nvPr/>
        </p:nvSpPr>
        <p:spPr>
          <a:xfrm>
            <a:off x="594360" y="1417320"/>
            <a:ext cx="1691640" cy="1920240"/>
          </a:xfrm>
          <a:prstGeom prst="rect">
            <a:avLst/>
          </a:prstGeom>
          <a:solidFill>
            <a:srgbClr val="FBFCFE"/>
          </a:solidFill>
          <a:ln w="13970">
            <a:solidFill>
              <a:srgbClr val="9FB0C3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40664" y="1563624"/>
            <a:ext cx="420624" cy="310896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1636776"/>
            <a:ext cx="283464" cy="13716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" y="1700784"/>
            <a:ext cx="155448" cy="7315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2212848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7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‏בדיקת ‎RTL‎‏</a:t>
            </a:r>
            <a:endParaRPr lang="he-IL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487168"/>
            <a:ext cx="868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8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‏לפתוח ב-‎PowerPoint‎ ולבדוק חזותית לפני שליחה‏</a:t>
            </a:r>
            <a:endParaRPr lang="he-IL" sz="820" dirty="0"/>
          </a:p>
        </p:txBody>
      </p:sp>
      <p:sp>
        <p:nvSpPr>
          <p:cNvPr id="31" name="Text 29"/>
          <p:cNvSpPr/>
          <p:nvPr/>
        </p:nvSpPr>
        <p:spPr>
          <a:xfrm>
            <a:off x="731520" y="3913632"/>
            <a:ext cx="7680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he-IL" altLang="en-US" sz="1020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‏הסקריפט עוטף מונחים באנגלית בסימני LRM בלתי נראים כדי לצמצם בעיות הדבקה ופיסוק. אם עורכים ידנית, חשוב לבדוק שוב.‏</a:t>
            </a:r>
            <a:endParaRPr lang="he-IL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easydo / Microsoft Power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easydo for Dynamics 365 and Power Platform</dc:title>
  <dc:subject>Commercial presentation for easydo integration with Dynamics 365 and Power Platform</dc:subject>
  <dc:creator>GitHub Copilot</dc:creator>
  <cp:lastModifiedBy>GitHub Copilot</cp:lastModifiedBy>
  <cp:revision>1</cp:revision>
  <dcterms:created xsi:type="dcterms:W3CDTF">2026-06-24T10:58:49Z</dcterms:created>
  <dcterms:modified xsi:type="dcterms:W3CDTF">2026-06-24T10:58:49Z</dcterms:modified>
</cp:coreProperties>
</file>